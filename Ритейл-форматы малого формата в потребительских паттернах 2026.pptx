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Poppins" panose="020B0604020202020204" charset="0"/>
      <p:regular r:id="rId21"/>
    </p:embeddedFont>
    <p:embeddedFont>
      <p:font typeface="Poppins Ultra-Bold" panose="020B0604020202020204" charset="0"/>
      <p:regular r:id="rId22"/>
    </p:embeddedFont>
    <p:embeddedFont>
      <p:font typeface="Poppi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22" autoAdjust="0"/>
  </p:normalViewPr>
  <p:slideViewPr>
    <p:cSldViewPr>
      <p:cViewPr varScale="1">
        <p:scale>
          <a:sx n="73" d="100"/>
          <a:sy n="73" d="100"/>
        </p:scale>
        <p:origin x="58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5132" y="1219200"/>
            <a:ext cx="11517868" cy="6980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spc="-1039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АНАЛИЗ ПОКУПАТЕЛЬСКИХ НАСТРОЕНИЙ И ПОРТРЕТОВ КЛИЕНТОВ ULTRA-CONVENIENCE ФОРМАТОВ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14173" y="1057275"/>
            <a:ext cx="284512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3000" spc="-179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10 июня,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421411" y="1514475"/>
            <a:ext cx="383788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3000" spc="-179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Кузьмичкин Михаил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47775"/>
            <a:ext cx="7787465" cy="890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832" dirty="0" smtClean="0">
                <a:solidFill>
                  <a:srgbClr val="05050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СОДЕРЖАНИЕ</a:t>
            </a:r>
            <a:endParaRPr lang="en-US" sz="8000" spc="-832" dirty="0">
              <a:solidFill>
                <a:srgbClr val="050505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889081"/>
            <a:ext cx="10080806" cy="457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Цели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задачи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методология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сбора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данных</a:t>
            </a:r>
            <a:endParaRPr lang="en-US" sz="3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Анализ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сентимента</a:t>
            </a:r>
            <a:endParaRPr lang="en-US" sz="3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Динамика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восприятия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формата</a:t>
            </a:r>
            <a:endParaRPr lang="en-US" sz="3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Драйверы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препятствия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выбора</a:t>
            </a:r>
            <a:endParaRPr lang="en-US" sz="3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Ключевые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словосочетания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паттерны</a:t>
            </a:r>
            <a:endParaRPr lang="en-US" sz="3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Анализ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сценариев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потребления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Портреты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покупателей</a:t>
            </a:r>
            <a:endParaRPr lang="en-US" sz="3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Сравнительный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анализ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моделей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сетей</a:t>
            </a:r>
            <a:endParaRPr lang="en-US" sz="3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Ключевые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барьеры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роста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Предложения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клиентов</a:t>
            </a:r>
            <a:endParaRPr lang="en-US" sz="3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77240" lvl="1" indent="-388620" algn="l">
              <a:lnSpc>
                <a:spcPts val="3240"/>
              </a:lnSpc>
              <a:buAutoNum type="arabicPeriod"/>
            </a:pP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Итоговые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выводы</a:t>
            </a:r>
            <a:r>
              <a:rPr lang="en-US" sz="3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3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рекомендации</a:t>
            </a:r>
            <a:endParaRPr lang="en-US" sz="3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71575"/>
            <a:ext cx="13898086" cy="199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ЦЕЛИ, ЗАДАЧИ,  МЕТОДОЛОГИЯ СБОРА ДАННЫХ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229100"/>
            <a:ext cx="16230600" cy="4911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Целью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проекта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является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комплексный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анализ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покупательских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настроений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операционных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драйверов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сценариев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потребления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формате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ultra-convenience. </a:t>
            </a:r>
          </a:p>
          <a:p>
            <a:pPr algn="l">
              <a:lnSpc>
                <a:spcPts val="3240"/>
              </a:lnSpc>
            </a:pPr>
            <a:endParaRPr lang="en-US" sz="2600" spc="-72" dirty="0" smtClean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40"/>
              </a:lnSpc>
            </a:pP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Были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поставлены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задачи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автоматического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текстового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сбора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комментариев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предобработка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данных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дальнейшая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классификация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В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рамках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аналитического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блока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решались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задачи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выявлению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ключевых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факторов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лояльности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оттока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сегментации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аудитории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основе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поведения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а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также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сравнению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ведущих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сетей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нового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240"/>
              </a:lnSpc>
            </a:pPr>
            <a:endParaRPr lang="en-US" sz="2600" spc="-72" dirty="0" smtClean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40"/>
              </a:lnSpc>
            </a:pP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рамках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исследования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было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проанализировано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257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отзывов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упоминаний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2026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год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собранных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из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Яндекс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Карт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vc.ru и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Habr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Для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каждого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отзыва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были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определены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сентимент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ключевая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тема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обращения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потребительская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миссия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Анализ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выполнен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с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применением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методов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обработки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естественного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языка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автоматизированной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классификации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текстов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/>
          <p:cNvGrpSpPr/>
          <p:nvPr/>
        </p:nvGrpSpPr>
        <p:grpSpPr>
          <a:xfrm>
            <a:off x="914636" y="2735692"/>
            <a:ext cx="16458729" cy="4385552"/>
            <a:chOff x="914636" y="2735692"/>
            <a:chExt cx="16458729" cy="4385552"/>
          </a:xfrm>
        </p:grpSpPr>
        <p:sp>
          <p:nvSpPr>
            <p:cNvPr id="2" name="Freeform 2"/>
            <p:cNvSpPr/>
            <p:nvPr/>
          </p:nvSpPr>
          <p:spPr>
            <a:xfrm>
              <a:off x="914636" y="2735692"/>
              <a:ext cx="7177172" cy="4385552"/>
            </a:xfrm>
            <a:custGeom>
              <a:avLst/>
              <a:gdLst/>
              <a:ahLst/>
              <a:cxnLst/>
              <a:rect l="l" t="t" r="r" b="b"/>
              <a:pathLst>
                <a:path w="7177172" h="4385552">
                  <a:moveTo>
                    <a:pt x="0" y="0"/>
                  </a:moveTo>
                  <a:lnTo>
                    <a:pt x="7177171" y="0"/>
                  </a:lnTo>
                  <a:lnTo>
                    <a:pt x="7177171" y="4385552"/>
                  </a:lnTo>
                  <a:lnTo>
                    <a:pt x="0" y="438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51" r="-498" b="-351"/>
              </a:stretch>
            </a:blipFill>
          </p:spPr>
        </p:sp>
        <p:sp>
          <p:nvSpPr>
            <p:cNvPr id="3" name="Freeform 3"/>
            <p:cNvSpPr/>
            <p:nvPr/>
          </p:nvSpPr>
          <p:spPr>
            <a:xfrm>
              <a:off x="8194507" y="2735692"/>
              <a:ext cx="9178858" cy="4385552"/>
            </a:xfrm>
            <a:custGeom>
              <a:avLst/>
              <a:gdLst/>
              <a:ahLst/>
              <a:cxnLst/>
              <a:rect l="l" t="t" r="r" b="b"/>
              <a:pathLst>
                <a:path w="9178858" h="4385552">
                  <a:moveTo>
                    <a:pt x="0" y="0"/>
                  </a:moveTo>
                  <a:lnTo>
                    <a:pt x="9178857" y="0"/>
                  </a:lnTo>
                  <a:lnTo>
                    <a:pt x="9178857" y="4385552"/>
                  </a:lnTo>
                  <a:lnTo>
                    <a:pt x="0" y="438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18" r="-246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28700" y="1171575"/>
            <a:ext cx="13898086" cy="1076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АНАЛИЗ СЕНТИМЕНТА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609089"/>
            <a:ext cx="16230600" cy="1628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Лидер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лояльности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- “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Около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”.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Лидер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количеству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позитивных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отзывов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распределеию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“Wow”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отзывов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240"/>
              </a:lnSpc>
            </a:pP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Потенц</a:t>
            </a:r>
            <a:r>
              <a:rPr lang="ru-RU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альные</a:t>
            </a:r>
            <a:r>
              <a:rPr lang="en-US" sz="2600" spc="-72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проблемы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- “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Заряд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Магнита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”.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Имеет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наибольший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уровень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негативных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отзывов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критических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отзывов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240"/>
              </a:lnSpc>
            </a:pP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“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Дикси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Go”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воспринимается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максимально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нейтрально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66376" y="1943100"/>
            <a:ext cx="13355249" cy="7036249"/>
          </a:xfrm>
          <a:custGeom>
            <a:avLst/>
            <a:gdLst/>
            <a:ahLst/>
            <a:cxnLst/>
            <a:rect l="l" t="t" r="r" b="b"/>
            <a:pathLst>
              <a:path w="13355249" h="7036249">
                <a:moveTo>
                  <a:pt x="0" y="0"/>
                </a:moveTo>
                <a:lnTo>
                  <a:pt x="13355250" y="0"/>
                </a:lnTo>
                <a:lnTo>
                  <a:pt x="13355250" y="7036249"/>
                </a:lnTo>
                <a:lnTo>
                  <a:pt x="0" y="7036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9" r="-5639" b="-87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71575"/>
            <a:ext cx="142875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ДИНАМИКА ВОСПРИЯТИЯ ФОРМАТА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13927" y="2497966"/>
            <a:ext cx="12860145" cy="4983306"/>
          </a:xfrm>
          <a:custGeom>
            <a:avLst/>
            <a:gdLst/>
            <a:ahLst/>
            <a:cxnLst/>
            <a:rect l="l" t="t" r="r" b="b"/>
            <a:pathLst>
              <a:path w="12860145" h="4983306">
                <a:moveTo>
                  <a:pt x="0" y="0"/>
                </a:moveTo>
                <a:lnTo>
                  <a:pt x="12860144" y="0"/>
                </a:lnTo>
                <a:lnTo>
                  <a:pt x="12860144" y="4983306"/>
                </a:lnTo>
                <a:lnTo>
                  <a:pt x="0" y="4983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71575"/>
            <a:ext cx="17259300" cy="1076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ДРАЙВЕРЫ И ПРЕПЯТСТВИЯ ВЫБОРА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731391"/>
            <a:ext cx="16230600" cy="1628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Клиенты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наиболее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чувствительны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к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атмосфере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ассортименту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Отмечают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комфорт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наличие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нужного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товара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также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обращают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большое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внимание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качество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еды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l">
              <a:lnSpc>
                <a:spcPts val="3240"/>
              </a:lnSpc>
            </a:pP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Множество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пользователей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жалуется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скорость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обсулживания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однако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магазины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ultra-convenience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должны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заставлять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стоять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очереди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или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кассе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что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является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серьезной</a:t>
            </a:r>
            <a:r>
              <a:rPr lang="en-US" sz="2600" spc="-7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2" dirty="0" err="1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проблемой</a:t>
            </a:r>
            <a:endParaRPr lang="en-US" sz="2600" spc="-7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14402"/>
            <a:ext cx="13898086" cy="199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КЛЮЧЕВЫЕ СЛОВОСОЧЕТАНИЯ И ПАТТЕРНЫ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4346" y="3098999"/>
            <a:ext cx="203191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spc="-52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НАЛЕТУ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99099"/>
            <a:ext cx="16230600" cy="122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Сильные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стороны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готовая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еда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(0.169),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кофе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выпечка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(0.121),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вкусный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кофе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(0.081).</a:t>
            </a:r>
          </a:p>
          <a:p>
            <a:pPr algn="l">
              <a:lnSpc>
                <a:spcPts val="2340"/>
              </a:lnSpc>
            </a:pPr>
            <a:endParaRPr lang="en-US" sz="2600" spc="-5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40"/>
              </a:lnSpc>
            </a:pP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Слабые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стороны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- amazon go (0.066) (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как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сравнение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концепции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),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qr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код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(0.066),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касса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самообслуживание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(0.042).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346" y="6131542"/>
            <a:ext cx="517055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spc="-52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ЗАРЯД ОТ МАГНИТА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079253"/>
            <a:ext cx="16230600" cy="92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Сильные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стороны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готовая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еда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(0.244),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заходить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каждый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(0.116),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чисто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аккуратно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(0.116).</a:t>
            </a:r>
          </a:p>
          <a:p>
            <a:pPr algn="l">
              <a:lnSpc>
                <a:spcPts val="2340"/>
              </a:lnSpc>
            </a:pPr>
            <a:endParaRPr lang="en-US" sz="2600" spc="-52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40"/>
              </a:lnSpc>
            </a:pP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Слабые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стороны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срок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годность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(0.095),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касса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самообслуживание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(0.083),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антисанитария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(0.066).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78683"/>
            <a:ext cx="16230600" cy="6119609"/>
            <a:chOff x="0" y="142875"/>
            <a:chExt cx="21640800" cy="8159479"/>
          </a:xfrm>
        </p:grpSpPr>
        <p:sp>
          <p:nvSpPr>
            <p:cNvPr id="3" name="TextBox 3"/>
            <p:cNvSpPr txBox="1"/>
            <p:nvPr/>
          </p:nvSpPr>
          <p:spPr>
            <a:xfrm>
              <a:off x="0" y="142875"/>
              <a:ext cx="18530781" cy="2701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8000" spc="-832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КЛЮЧЕВЫЕ СЛОВОСОЧЕТАНИЯ И ПАТТЕРНЫ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338212"/>
              <a:ext cx="2666099" cy="920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sz="5000" spc="-520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ОКОЛО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220899"/>
              <a:ext cx="21640800" cy="20430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2600" spc="-52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Сильные стороны - самый хороший (0.253), большой ассортимент (0.127), свежий хлеб / овощи фрукты (0.101).</a:t>
              </a:r>
            </a:p>
            <a:p>
              <a:pPr algn="l">
                <a:lnSpc>
                  <a:spcPts val="2340"/>
                </a:lnSpc>
              </a:pPr>
              <a:endParaRPr lang="en-US" sz="2600" spc="-52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2340"/>
                </a:lnSpc>
              </a:pPr>
              <a:r>
                <a:rPr lang="en-US" sz="2600" spc="-52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Слабые стороны - продавать алкогольный (0.303), близкий двор (0.101), алкогольная продукция (0.202) [конфликт с жителями ЖК].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7381605"/>
              <a:ext cx="3789615" cy="920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sz="5000" spc="-520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ДИКСИ GO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6931643"/>
            <a:ext cx="16230600" cy="122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2600" spc="-52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Сильные стороны - быстрый покупка (0.123), востребованная продукция (0.123). </a:t>
            </a:r>
          </a:p>
          <a:p>
            <a:pPr algn="l">
              <a:lnSpc>
                <a:spcPts val="2340"/>
              </a:lnSpc>
            </a:pPr>
            <a:endParaRPr lang="en-US" sz="2600" spc="-52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40"/>
              </a:lnSpc>
            </a:pPr>
            <a:r>
              <a:rPr lang="en-US" sz="2600" spc="-52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Слабые стороны - кофейный автомат (0.302), автомат время/время работать (0.302), сломаются повесить (табличку) (0.302).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54121" y="2247847"/>
            <a:ext cx="10379757" cy="5812664"/>
          </a:xfrm>
          <a:custGeom>
            <a:avLst/>
            <a:gdLst/>
            <a:ahLst/>
            <a:cxnLst/>
            <a:rect l="l" t="t" r="r" b="b"/>
            <a:pathLst>
              <a:path w="10379757" h="5812664">
                <a:moveTo>
                  <a:pt x="0" y="0"/>
                </a:moveTo>
                <a:lnTo>
                  <a:pt x="10379758" y="0"/>
                </a:lnTo>
                <a:lnTo>
                  <a:pt x="10379758" y="5812664"/>
                </a:lnTo>
                <a:lnTo>
                  <a:pt x="0" y="581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71575"/>
            <a:ext cx="17543918" cy="1076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АНАЛИЗ СЦЕНАРИЕВ ПОТРЕБЛЕНИЯ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060511"/>
            <a:ext cx="16230600" cy="18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Ultra-convenience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форматы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используются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преимущественно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для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базовых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покупок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У “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Около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эта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доля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достигает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88.5%, у “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Дикси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Go” - 80.7%.</a:t>
            </a:r>
          </a:p>
          <a:p>
            <a:pPr algn="l">
              <a:lnSpc>
                <a:spcPts val="2340"/>
              </a:lnSpc>
            </a:pP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У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сети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“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Заряд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магнита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самый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высокий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показатель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миссии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“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готовая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еда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 - 21.6%.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Кулинария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востребована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здесь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сильнее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чем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у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конкурентов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340"/>
              </a:lnSpc>
            </a:pP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Миссия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“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кофе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перекус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превышает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16%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ни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одной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из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сетей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Кофе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перекус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остается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лишь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дополнением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однако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некоторых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случаях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вызывает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много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52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жалоб</a:t>
            </a:r>
            <a:r>
              <a:rPr lang="en-US" sz="2600" spc="-5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71575"/>
            <a:ext cx="17543918" cy="1076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ПОРТРЕТЫ ПОКУПАТЕЛЕЙ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49144"/>
            <a:ext cx="17259300" cy="48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999" spc="-415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ЖИТЕЛЬ БЛИЖАЙШЕГО ЖК (МАГАЗИН ДЛЯ ПОСТОЯННОГО ИСПОЛЬЗОВАНИЯ)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4346" y="3161739"/>
            <a:ext cx="16230600" cy="209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Возраст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образ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жизни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Живет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размеренной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жизнью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использует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для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мелких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повседневных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покупок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Контекст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покупки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Частые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покупки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рядом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с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домом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Цель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визита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Купить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продукты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питания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или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полуфабрикаты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быстро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купить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единичный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товар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возникновении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необходимости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Чувствительность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к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цене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Умеренная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Цена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влияет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выбор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но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доступность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делает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более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привлекательным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Ожидания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Близко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к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дому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быстрое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обслуживание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вежливые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сотрудники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комфортные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условия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пребывания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помещении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отсутствие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очередей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1800"/>
              </a:lnSpc>
            </a:pPr>
            <a:endParaRPr lang="en-US" sz="2000" spc="-40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5463022"/>
            <a:ext cx="17259300" cy="52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999" spc="-415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ПОРТРЕТ 2: КЛИЕНТ, ОРИЕНТИРОВАННЫЙ НА СЕРВИС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346" y="5973778"/>
            <a:ext cx="16230600" cy="141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Возраст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образ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жизни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Человек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вероятно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в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возрасте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испытывающий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трудности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с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новым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форматом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Контекст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покупки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Редкие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покупки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новом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Цель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визита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Купить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максимально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быстро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нужный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товар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прибегнув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к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помощи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сотрудников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Чувствительность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к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цене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Умеренная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Ожидания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Вежливые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приятные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сотрудники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которые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смогут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помочь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с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выбором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1800"/>
              </a:lnSpc>
            </a:pPr>
            <a:endParaRPr lang="en-US" sz="2400" spc="-40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81100" y="7816049"/>
            <a:ext cx="17259300" cy="52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999" spc="-415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ПОРТРЕТ 3: “КОФЕ С БУЛОЧКОЙ”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346" y="8339951"/>
            <a:ext cx="16230600" cy="187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Возраст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образ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жизни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Молодой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активный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потребитель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учащийся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или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работающий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городе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использующий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чтобы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забежать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перед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работой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учебой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Контекст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покупки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Частые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покупки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пути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работу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или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учебу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Вместо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посещения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кофейни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Цель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визита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Купить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кофе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свежую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выпечку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Чувствительность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к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цене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Низкая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Клиент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готов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платить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условии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качества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товара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31801" lvl="1" indent="-215900" algn="l">
              <a:lnSpc>
                <a:spcPts val="1800"/>
              </a:lnSpc>
              <a:buFont typeface="Arial"/>
              <a:buChar char="•"/>
            </a:pP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Ожидания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Свежие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продукты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чистота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внутри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рабочее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оборудование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например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spc="-40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кофемашина</a:t>
            </a:r>
            <a:r>
              <a:rPr lang="en-US" sz="2400" spc="-40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algn="l">
              <a:lnSpc>
                <a:spcPts val="1800"/>
              </a:lnSpc>
            </a:pPr>
            <a:endParaRPr lang="en-US" sz="2400" spc="-40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14402"/>
            <a:ext cx="17543918" cy="1990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СРАВНИТЕЛЬНЫЙ АНАЛИЗ МОДЕЛЕЙ СЕТЕЙ</a:t>
            </a:r>
          </a:p>
        </p:txBody>
      </p:sp>
      <p:sp>
        <p:nvSpPr>
          <p:cNvPr id="3" name="Freeform 3"/>
          <p:cNvSpPr/>
          <p:nvPr/>
        </p:nvSpPr>
        <p:spPr>
          <a:xfrm>
            <a:off x="4502421" y="2171700"/>
            <a:ext cx="9283159" cy="5687738"/>
          </a:xfrm>
          <a:custGeom>
            <a:avLst/>
            <a:gdLst/>
            <a:ahLst/>
            <a:cxnLst/>
            <a:rect l="l" t="t" r="r" b="b"/>
            <a:pathLst>
              <a:path w="9283159" h="5687738">
                <a:moveTo>
                  <a:pt x="0" y="0"/>
                </a:moveTo>
                <a:lnTo>
                  <a:pt x="9283158" y="0"/>
                </a:lnTo>
                <a:lnTo>
                  <a:pt x="9283158" y="5687738"/>
                </a:lnTo>
                <a:lnTo>
                  <a:pt x="0" y="568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81100" y="7962900"/>
            <a:ext cx="16230600" cy="2108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Около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доминирует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счет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фокуса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базовые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потребности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ЖК,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показывая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что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клиенту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важнее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близость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ассортимент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чем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инновации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339"/>
              </a:lnSpc>
            </a:pP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Заряд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имеет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самый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высокий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потенциал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кулинарии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однако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модель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страдает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операционных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сбоев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например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срок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годности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algn="l">
              <a:lnSpc>
                <a:spcPts val="2339"/>
              </a:lnSpc>
            </a:pP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Налету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 и “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Дикси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Go”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оправдали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себя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данный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момент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технические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барьеры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qr-коды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кассы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)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плохое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состояние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оборудования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сломанные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автоматы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ru-RU" sz="2599" spc="-51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снижают</a:t>
            </a:r>
            <a:r>
              <a:rPr lang="en-US" sz="2599" spc="-51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лояльность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339"/>
              </a:lnSpc>
            </a:pPr>
            <a:endParaRPr lang="en-US" sz="2599" spc="-51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71575"/>
            <a:ext cx="17543918" cy="1076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КЛЮЧЕВЫЕ БАРЬЕРЫ РОСТА</a:t>
            </a:r>
          </a:p>
        </p:txBody>
      </p:sp>
      <p:grpSp>
        <p:nvGrpSpPr>
          <p:cNvPr id="6" name="Группа 5"/>
          <p:cNvGrpSpPr/>
          <p:nvPr/>
        </p:nvGrpSpPr>
        <p:grpSpPr>
          <a:xfrm>
            <a:off x="1028700" y="2290997"/>
            <a:ext cx="16802100" cy="5705007"/>
            <a:chOff x="1028700" y="3086100"/>
            <a:chExt cx="16802100" cy="5705007"/>
          </a:xfrm>
        </p:grpSpPr>
        <p:sp>
          <p:nvSpPr>
            <p:cNvPr id="3" name="TextBox 3"/>
            <p:cNvSpPr txBox="1"/>
            <p:nvPr/>
          </p:nvSpPr>
          <p:spPr>
            <a:xfrm>
              <a:off x="1028700" y="3086100"/>
              <a:ext cx="16802100" cy="21544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415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“ДАЛ ПАСПОРТ, ПРИВЯЗАЛ БИОМЕТРИЮ К ТЕЛУ С 5 РАКУРСОВ... И ТЕБЕ, НАКОНЕЦ, РАЗРЕШИЛИ КУПИТЬ ЧЁРТОВУ ШОКОЛАДКУ. </a:t>
              </a:r>
              <a:r>
                <a:rPr lang="en-US" sz="3999" spc="-415" dirty="0" smtClean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ПРИВЕТ</a:t>
              </a:r>
              <a:r>
                <a:rPr lang="en-US" sz="3999" spc="-415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, УНЫЛОЕ АНТИУТОПИЧЕСКОЕ БУДУЩЕЕ</a:t>
              </a:r>
              <a:r>
                <a:rPr lang="en-US" sz="3999" spc="-415" dirty="0" smtClean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” – </a:t>
              </a:r>
              <a:r>
                <a:rPr lang="ru-RU" sz="3999" spc="-415" dirty="0" smtClean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Отзыв с </a:t>
              </a:r>
              <a:r>
                <a:rPr lang="en-US" sz="3999" spc="-415" dirty="0" err="1" smtClean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Habr</a:t>
              </a:r>
              <a:endParaRPr lang="en-US" sz="3999" spc="-415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8700" y="5546629"/>
              <a:ext cx="16230600" cy="32444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9"/>
                </a:lnSpc>
              </a:pP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Покупатели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2026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года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остро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реагируют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на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сбор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персональных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данных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ради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мелкой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покупки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Необходимость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устанавливать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приложение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давать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доступы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к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локации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и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сканировать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QR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коды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воспринимается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как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неоправданная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слежка</a:t>
              </a:r>
              <a:r>
                <a:rPr lang="en-US" sz="2599" spc="-51" dirty="0" smtClean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  <a:p>
              <a:pPr algn="l">
                <a:lnSpc>
                  <a:spcPts val="2339"/>
                </a:lnSpc>
              </a:pPr>
              <a:endPara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2339"/>
                </a:lnSpc>
              </a:pP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Для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многих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клиентов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проблемой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стало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отсутствие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привычного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персонала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Клиенты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считают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что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ритейл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пытается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не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платить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кассирам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заставляя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покупателя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бесплатно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выполнять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их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работу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оставляя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или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даже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повышая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цену</a:t>
              </a:r>
              <a:r>
                <a:rPr lang="en-US" sz="2599" spc="-51" dirty="0" smtClean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  <a:p>
              <a:pPr algn="l">
                <a:lnSpc>
                  <a:spcPts val="2339"/>
                </a:lnSpc>
              </a:pPr>
              <a:endPara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2339"/>
                </a:lnSpc>
              </a:pP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Многие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пользователи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отмечают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несовершенность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и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поломки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оборудования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, а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некоторые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задаются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вопросами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безопасности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Отмечается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что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опыт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использования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магазина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может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кардинально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отличаться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в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зависимости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от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его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расположения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 в </a:t>
              </a:r>
              <a:r>
                <a:rPr lang="en-US" sz="2599" spc="-51" dirty="0" err="1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городе</a:t>
              </a:r>
              <a:r>
                <a:rPr lang="en-US" sz="2599" spc="-51" dirty="0">
                  <a:solidFill>
                    <a:srgbClr val="050505"/>
                  </a:solidFill>
                  <a:latin typeface="Poppins"/>
                  <a:ea typeface="Poppins"/>
                  <a:cs typeface="Poppins"/>
                  <a:sym typeface="Poppins"/>
                </a:rPr>
                <a:t>. 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71575"/>
            <a:ext cx="17543918" cy="1076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ПРЕДЛОЖЕНИЯ КЛИЕНТОВ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923534"/>
            <a:ext cx="16230600" cy="4439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2599" b="1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lang="en-US" sz="2599" b="1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Пересмотр</a:t>
            </a:r>
            <a:r>
              <a:rPr lang="en-US" sz="2599" b="1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b="1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аппаратуры</a:t>
            </a:r>
            <a:r>
              <a:rPr lang="en-US" sz="2599" b="1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b="1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устройства</a:t>
            </a:r>
            <a:r>
              <a:rPr lang="en-US" sz="2599" b="1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b="1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магазинов</a:t>
            </a:r>
            <a:endParaRPr lang="en-US" sz="2599" b="1" spc="-51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9"/>
              </a:lnSpc>
            </a:pP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Вместо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дорогих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систем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компьютерного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зрения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зале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пользователи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Habr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предлагают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“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механизированного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склада-магазина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”.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Пользователь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выбирает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товары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терминале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или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через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телефон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),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оплачивает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робот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выдает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заказ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Это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решает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проблемы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воровства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сроков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годности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экономит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свет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l">
              <a:lnSpc>
                <a:spcPts val="2339"/>
              </a:lnSpc>
            </a:pPr>
            <a:endParaRPr lang="en-US" sz="2599" spc="-51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9"/>
              </a:lnSpc>
            </a:pPr>
            <a:r>
              <a:rPr lang="en-US" sz="2599" b="1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 sz="2599" b="1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Упрощение</a:t>
            </a:r>
            <a:r>
              <a:rPr lang="en-US" sz="2599" b="1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b="1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использования</a:t>
            </a:r>
            <a:r>
              <a:rPr lang="en-US" sz="2599" b="1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b="1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сервиса</a:t>
            </a:r>
            <a:endParaRPr lang="en-US" sz="2599" b="1" spc="-51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9"/>
              </a:lnSpc>
            </a:pP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Существует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недовольство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лишними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регистрациями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требуемыми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для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регистрации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данными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Пользователи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предалагают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использовать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существующие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карты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лояльности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как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ключ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для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входа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авторизации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без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генерации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QR-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кодов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сторонних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приложениях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339"/>
              </a:lnSpc>
            </a:pPr>
            <a:endParaRPr lang="en-US" sz="2599" spc="-51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9"/>
              </a:lnSpc>
            </a:pPr>
            <a:r>
              <a:rPr lang="en-US" sz="2599" b="1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lang="en-US" sz="2599" b="1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Аудит</a:t>
            </a:r>
            <a:r>
              <a:rPr lang="en-US" sz="2599" b="1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b="1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ассортимента</a:t>
            </a:r>
            <a:endParaRPr lang="en-US" sz="2599" b="1" spc="-51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9"/>
              </a:lnSpc>
            </a:pP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Пользователи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предлагают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более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осторожно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относиться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к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ассортименту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В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некоотрых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местах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сократить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крепкий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алкоголь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чтобы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снизить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количество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маргинальных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компаний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дворах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возможно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расширить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другие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зоны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В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городской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среде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рядом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с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офисами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увеличить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площадь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под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готовой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пищи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контролируя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исправность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кофейных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автоматов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сроков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годности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продукции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71575"/>
            <a:ext cx="17543918" cy="1076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832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ИТОГОВЫЕ ВЫВОДЫ И РЕКОМЕНДАЦИИ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28581"/>
            <a:ext cx="16230600" cy="5029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Атмосфера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ключевой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триггер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Физическое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пространство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магазина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является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одновременно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главным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драйвером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выбора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(34.45%)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барьером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роста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(36.96%).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Клиент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крайне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чувствителен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к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тесноте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чистоте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эргономике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ультрамалой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площади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339"/>
              </a:lnSpc>
            </a:pP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Около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Демонстрирует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максимальную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устойчивость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рынке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(85.2%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позитива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за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счет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точного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попадания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доминирующую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миссию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аудитории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- “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базовые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покупки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у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дома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” (88.5%).</a:t>
            </a:r>
          </a:p>
          <a:p>
            <a:pPr algn="l">
              <a:lnSpc>
                <a:spcPts val="2339"/>
              </a:lnSpc>
            </a:pPr>
            <a:endParaRPr lang="en-US" sz="2599" spc="-51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9"/>
              </a:lnSpc>
            </a:pP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Сбои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кассового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оборудования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кофейных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аппаратов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проблем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с ПО (19.57%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негатива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полностью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уничтожают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скорость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которая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является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визитной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карточкой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формата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339"/>
              </a:lnSpc>
            </a:pP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Наблюдаются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многие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жалобы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ассортименту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контролю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его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качества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Жалобы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бывают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как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продажу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алкогольной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табачной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продукции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лицам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недостигшим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соверешннолетия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так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просроченную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продукцию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l">
              <a:lnSpc>
                <a:spcPts val="2339"/>
              </a:lnSpc>
            </a:pPr>
            <a:endParaRPr lang="en-US" sz="2599" spc="-51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339"/>
              </a:lnSpc>
            </a:pP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Для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повышения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лояльности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необходимо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сократить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избыточную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продукцию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алкоголя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в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спальных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ЖК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перераспределить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освободившееся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место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l">
              <a:lnSpc>
                <a:spcPts val="2339"/>
              </a:lnSpc>
            </a:pP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Необходимо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обеспечить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бесперебойную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работу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ИТ-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инфраструктуры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и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регулярное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ТО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аппаратуры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339"/>
              </a:lnSpc>
            </a:pP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Полная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автономность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пока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пугает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массового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или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возрастного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клиента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Необходимо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сохранять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приветливый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персонал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готовый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помочь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при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возникновении</a:t>
            </a:r>
            <a:r>
              <a:rPr lang="en-US" sz="2599" spc="-51" dirty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spc="-51" dirty="0" err="1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трудностей</a:t>
            </a:r>
            <a:r>
              <a:rPr lang="en-US" sz="2599" spc="-51" dirty="0" smtClean="0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599" spc="-51" dirty="0">
              <a:solidFill>
                <a:srgbClr val="05050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0476" y="4630539"/>
            <a:ext cx="13767048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99"/>
              </a:lnSpc>
            </a:pPr>
            <a:r>
              <a:rPr lang="en-US" sz="9999" spc="-1039" dirty="0">
                <a:solidFill>
                  <a:srgbClr val="050505"/>
                </a:solidFill>
                <a:latin typeface="Poppins" panose="020B0604020202020204" charset="0"/>
                <a:ea typeface="Poppins Bold"/>
                <a:cs typeface="Poppins" panose="020B0604020202020204" charset="0"/>
                <a:sym typeface="Poppins Bold"/>
              </a:rPr>
              <a:t>БЛАГОДАРЮ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1316</Words>
  <Application>Microsoft Office PowerPoint</Application>
  <PresentationFormat>Произвольный</PresentationFormat>
  <Paragraphs>101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Poppins</vt:lpstr>
      <vt:lpstr>Poppins Ultra-Bold</vt:lpstr>
      <vt:lpstr>Poppins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Ритейл-форматы малого формата в потребительских паттернах 2026.</dc:title>
  <dc:creator>pistol</dc:creator>
  <cp:lastModifiedBy>pistol</cp:lastModifiedBy>
  <cp:revision>20</cp:revision>
  <dcterms:created xsi:type="dcterms:W3CDTF">2006-08-16T00:00:00Z</dcterms:created>
  <dcterms:modified xsi:type="dcterms:W3CDTF">2026-08-12T17:16:00Z</dcterms:modified>
  <dc:identifier>DAHMLX60GZk</dc:identifier>
</cp:coreProperties>
</file>